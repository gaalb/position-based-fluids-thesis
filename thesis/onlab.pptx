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ernokinfo\szakdoga\Position-Based-Fluids-Thesis\thesis\sta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RTX 4050 Laptop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115</c:v>
                </c:pt>
                <c:pt idx="1">
                  <c:v>73</c:v>
                </c:pt>
                <c:pt idx="2">
                  <c:v>48</c:v>
                </c:pt>
                <c:pt idx="3">
                  <c:v>39</c:v>
                </c:pt>
                <c:pt idx="4">
                  <c:v>32</c:v>
                </c:pt>
                <c:pt idx="5">
                  <c:v>26</c:v>
                </c:pt>
                <c:pt idx="6">
                  <c:v>20</c:v>
                </c:pt>
                <c:pt idx="7">
                  <c:v>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415-4977-8DBD-A9A1A2C5A3F2}"/>
            </c:ext>
          </c:extLst>
        </c:ser>
        <c:ser>
          <c:idx val="1"/>
          <c:order val="1"/>
          <c:tx>
            <c:v>RTX 3080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144</c:v>
                </c:pt>
                <c:pt idx="1">
                  <c:v>140</c:v>
                </c:pt>
                <c:pt idx="2">
                  <c:v>105</c:v>
                </c:pt>
                <c:pt idx="3">
                  <c:v>80</c:v>
                </c:pt>
                <c:pt idx="4">
                  <c:v>65</c:v>
                </c:pt>
                <c:pt idx="5">
                  <c:v>55</c:v>
                </c:pt>
                <c:pt idx="6">
                  <c:v>48</c:v>
                </c:pt>
                <c:pt idx="7">
                  <c:v>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415-4977-8DBD-A9A1A2C5A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32422704"/>
        <c:axId val="970766936"/>
      </c:scatterChart>
      <c:valAx>
        <c:axId val="9324227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u-HU"/>
                  <a:t>particle count</a:t>
                </a:r>
                <a:r>
                  <a:rPr lang="hu-HU" baseline="0"/>
                  <a:t> (thousand)</a:t>
                </a:r>
                <a:endParaRPr lang="hu-H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u-H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970766936"/>
        <c:crosses val="autoZero"/>
        <c:crossBetween val="midCat"/>
      </c:valAx>
      <c:valAx>
        <c:axId val="970766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u-HU"/>
                  <a:t>FPS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u-H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93242270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055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B4C01-3136-353E-6D6C-2DEBC266A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94CC9-1DBB-EDD1-5A69-A072EB8CD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DDF8A-073D-008B-EFFB-50FDE3801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12F5B-7DB1-4D64-D8DC-CD68CD1D72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12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60D8-EFB1-917D-CEAE-254BFAD1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F6E0F-5532-2BF3-9CB0-C33FB6FDA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7C9F7-4197-03D4-EA14-E2E8B3EDD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9A2D8-F41D-4971-B124-6C806D265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6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3600" b="1" noProof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Pozícióalapú Folyadékszimuláció</a:t>
            </a:r>
            <a:endParaRPr lang="hu-HU" sz="36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u-HU" sz="1800" i="1" noProof="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r>
              <a:rPr lang="hu-HU" sz="1800" i="1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800" i="1" noProof="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</a:t>
            </a:r>
            <a:r>
              <a:rPr lang="hu-HU" sz="1800" i="1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800" i="1" noProof="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</a:t>
            </a:r>
            <a:endParaRPr lang="hu-HU" sz="1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400" b="1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Gaál Botond</a:t>
            </a:r>
            <a:endParaRPr lang="hu-HU" sz="1400" noProof="0" dirty="0"/>
          </a:p>
          <a:p>
            <a:pPr marL="0" indent="0">
              <a:buNone/>
            </a:pPr>
            <a:r>
              <a:rPr lang="hu-HU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Önálló Laboratórium </a:t>
            </a:r>
          </a:p>
          <a:p>
            <a:pPr marL="0" indent="0">
              <a:buNone/>
            </a:pPr>
            <a:r>
              <a:rPr lang="hu-HU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Témavezető: Dr. Szécsi László</a:t>
            </a:r>
            <a:endParaRPr lang="hu-HU" sz="1400" noProof="0" dirty="0"/>
          </a:p>
          <a:p>
            <a:pPr marL="0" indent="0">
              <a:buNone/>
            </a:pPr>
            <a:r>
              <a:rPr lang="hu-HU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 VIK · 2026</a:t>
            </a:r>
            <a:endParaRPr lang="hu-HU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2800" b="1" noProof="0" dirty="0" err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Valósidejű</a:t>
            </a:r>
            <a:r>
              <a:rPr lang="hu-HU" sz="2800" b="1" noProof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folyadékszimuláció</a:t>
            </a:r>
            <a:endParaRPr lang="hu-HU" sz="28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hu-HU" sz="1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Interaktív applikációk igényei: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Sebesség: 30</a:t>
            </a:r>
            <a:r>
              <a:rPr lang="hu-HU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hu-HU" noProof="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r>
              <a:rPr lang="en-US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hu-HU" noProof="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Stabilitás felhasználói zavarással is</a:t>
            </a:r>
            <a:r>
              <a:rPr lang="en-US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hu-HU" noProof="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Hihető kinézet (fizikai koherencia másodlagos)</a:t>
            </a:r>
            <a:r>
              <a:rPr lang="en-US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hu-HU" sz="18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hu-HU" sz="8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hu-HU" sz="1800" noProof="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9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hu-HU" sz="900" noProof="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2BC8728-48FA-4C6F-5CD1-19003D959A1A}"/>
              </a:ext>
            </a:extLst>
          </p:cNvPr>
          <p:cNvSpPr/>
          <p:nvPr/>
        </p:nvSpPr>
        <p:spPr>
          <a:xfrm>
            <a:off x="548640" y="30861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hu-HU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megközelítés: </a:t>
            </a:r>
            <a:r>
              <a:rPr lang="hu-HU" noProof="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r>
              <a:rPr lang="hu-HU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alapú </a:t>
            </a:r>
            <a:r>
              <a:rPr lang="en-US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hu-HU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b="1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Részecske alapú</a:t>
            </a:r>
            <a:r>
              <a:rPr lang="en-US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hu-HU" b="1" noProof="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hu-HU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részecskelapú megközelítés rugalmasabb – ezzel foglalkozunk. </a:t>
            </a:r>
          </a:p>
          <a:p>
            <a:pPr>
              <a:spcAft>
                <a:spcPts val="400"/>
              </a:spcAft>
            </a:pPr>
            <a:endParaRPr lang="hu-HU" sz="18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5E1CF-5586-50EB-EBA2-26AC13A62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700DB0-6ACE-681E-F620-6E9540107AA8}"/>
              </a:ext>
            </a:extLst>
          </p:cNvPr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noProof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Részecskealapú Megközelítések</a:t>
            </a:r>
            <a:endParaRPr lang="hu-HU" sz="2800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152927-0A1D-3B81-DB0E-C97BC11EF596}"/>
              </a:ext>
            </a:extLst>
          </p:cNvPr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900" noProof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hu-HU" sz="900" noProof="1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67E143B-9260-E07D-41D2-6FA308817735}"/>
              </a:ext>
            </a:extLst>
          </p:cNvPr>
          <p:cNvSpPr/>
          <p:nvPr/>
        </p:nvSpPr>
        <p:spPr>
          <a:xfrm>
            <a:off x="457200" y="1340826"/>
            <a:ext cx="8046720" cy="106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Particle Hydrodynamics: SPH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folyadék tulajdonságait a részecskék interpolációjával kapjuk.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interpolációs szabály: egy SPH kernel függvény</a:t>
            </a:r>
            <a:r>
              <a:rPr lang="en-US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hu-HU" noProof="1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4D37573-8AD6-69A4-E5FF-3482C19A22E0}"/>
              </a:ext>
            </a:extLst>
          </p:cNvPr>
          <p:cNvSpPr/>
          <p:nvPr/>
        </p:nvSpPr>
        <p:spPr>
          <a:xfrm>
            <a:off x="457200" y="2903219"/>
            <a:ext cx="8046720" cy="142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Based Dynamics: PBD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tárgyak/folyadék részecskéire a külső erőkön kívül belső erők hatnak</a:t>
            </a:r>
            <a:r>
              <a:rPr lang="en-US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hu-HU" noProof="1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belső erők hatását a részecskékre megfogalmazott kényszerek reprezentálják</a:t>
            </a:r>
            <a:r>
              <a:rPr lang="en-US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hu-HU" noProof="1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kényszerek egy egyenletrendszert alkotnak – iterálva megoldás</a:t>
            </a:r>
            <a:r>
              <a:rPr lang="en-US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hu-HU" noProof="1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2503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7C05-F177-2048-9C6A-FE7AA1CC1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0D6290-55D1-928B-B423-2E3DFD5D9811}"/>
              </a:ext>
            </a:extLst>
          </p:cNvPr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2800" b="1" noProof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Based Fluids: PBF</a:t>
            </a:r>
            <a:endParaRPr lang="hu-HU" sz="28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16E257-EF95-3A0C-5D43-E564862FCDFF}"/>
              </a:ext>
            </a:extLst>
          </p:cNvPr>
          <p:cNvSpPr/>
          <p:nvPr/>
        </p:nvSpPr>
        <p:spPr>
          <a:xfrm>
            <a:off x="457200" y="953965"/>
            <a:ext cx="8046720" cy="1965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</a:t>
            </a:r>
            <a:r>
              <a:rPr lang="hu-HU" b="1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részecskelapú </a:t>
            </a: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folyadékszimuláció</a:t>
            </a:r>
            <a:r>
              <a:rPr lang="en-US" b="1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módszer</a:t>
            </a: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amely az </a:t>
            </a:r>
            <a:r>
              <a:rPr lang="hu-HU" b="1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Particle Hydrodynamics</a:t>
            </a: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-et kombinálja a </a:t>
            </a:r>
            <a:r>
              <a:rPr lang="hu-HU" b="1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Based Dynamics</a:t>
            </a: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keretrendszerrel.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folyadék részecskék SPH kernel függvény szerint “terülnek szét” a térben.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összenyomhatatlanságot PBD kényszerek írják le: </a:t>
            </a:r>
            <a:r>
              <a:rPr lang="hu-HU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hu-HU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ᵢ</a:t>
            </a:r>
            <a:r>
              <a:rPr lang="hu-HU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(x₁, …, xₙ) = ρᵢ / ρ₀ − 1</a:t>
            </a:r>
            <a:endParaRPr lang="hu-HU"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hu-HU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6F2429-C26F-65AB-AE96-25F43EC29331}"/>
              </a:ext>
            </a:extLst>
          </p:cNvPr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900" noProof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hu-HU" sz="900" noProof="1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66EE3B8-E4C0-E262-A6FB-E75CFFF90EFA}"/>
              </a:ext>
            </a:extLst>
          </p:cNvPr>
          <p:cNvGrpSpPr/>
          <p:nvPr/>
        </p:nvGrpSpPr>
        <p:grpSpPr>
          <a:xfrm>
            <a:off x="1406770" y="2425799"/>
            <a:ext cx="6646984" cy="1983544"/>
            <a:chOff x="1371600" y="1371600"/>
            <a:chExt cx="7223760" cy="2377440"/>
          </a:xfrm>
        </p:grpSpPr>
        <p:sp>
          <p:nvSpPr>
            <p:cNvPr id="18" name="Text 1">
              <a:extLst>
                <a:ext uri="{FF2B5EF4-FFF2-40B4-BE49-F238E27FC236}">
                  <a16:creationId xmlns:a16="http://schemas.microsoft.com/office/drawing/2014/main" id="{B6000A93-EB98-7032-B528-7F749E65FBD2}"/>
                </a:ext>
              </a:extLst>
            </p:cNvPr>
            <p:cNvSpPr/>
            <p:nvPr/>
          </p:nvSpPr>
          <p:spPr>
            <a:xfrm>
              <a:off x="1371600" y="1371600"/>
              <a:ext cx="4572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hu-HU" sz="2200" b="1" dirty="0">
                  <a:solidFill>
                    <a:srgbClr val="0000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1.</a:t>
              </a:r>
              <a:endParaRPr lang="hu-HU" sz="2200" dirty="0"/>
            </a:p>
          </p:txBody>
        </p:sp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B56E06B5-FDE3-9333-4D76-76B76732C966}"/>
                </a:ext>
              </a:extLst>
            </p:cNvPr>
            <p:cNvSpPr/>
            <p:nvPr/>
          </p:nvSpPr>
          <p:spPr>
            <a:xfrm>
              <a:off x="1920240" y="1371600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hu-HU" sz="1800" b="1" dirty="0" err="1">
                  <a:solidFill>
                    <a:srgbClr val="000000"/>
                  </a:solidFill>
                  <a:latin typeface="Georgia" pitchFamily="34" charset="0"/>
                </a:rPr>
                <a:t>Predict</a:t>
              </a:r>
              <a:endParaRPr lang="hu-HU" sz="1800" dirty="0"/>
            </a:p>
          </p:txBody>
        </p:sp>
        <p:sp>
          <p:nvSpPr>
            <p:cNvPr id="20" name="Text 3">
              <a:extLst>
                <a:ext uri="{FF2B5EF4-FFF2-40B4-BE49-F238E27FC236}">
                  <a16:creationId xmlns:a16="http://schemas.microsoft.com/office/drawing/2014/main" id="{AFE3E00C-E3F6-4413-37C5-84C2559B0AFB}"/>
                </a:ext>
              </a:extLst>
            </p:cNvPr>
            <p:cNvSpPr/>
            <p:nvPr/>
          </p:nvSpPr>
          <p:spPr>
            <a:xfrm>
              <a:off x="4023360" y="1371600"/>
              <a:ext cx="45720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hu-HU" sz="1400" dirty="0" err="1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Semi</a:t>
              </a:r>
              <a:r>
                <a:rPr lang="hu-HU" sz="14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-implicit Euler lépés a külső erők alapján.</a:t>
              </a:r>
              <a:endParaRPr lang="hu-HU" sz="1400" dirty="0"/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BD6309AE-131C-57DA-F918-8798D2383C33}"/>
                </a:ext>
              </a:extLst>
            </p:cNvPr>
            <p:cNvSpPr/>
            <p:nvPr/>
          </p:nvSpPr>
          <p:spPr>
            <a:xfrm>
              <a:off x="1371600" y="1965960"/>
              <a:ext cx="4572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hu-HU" sz="2200" b="1" dirty="0">
                  <a:solidFill>
                    <a:srgbClr val="0000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2.</a:t>
              </a:r>
              <a:endParaRPr lang="hu-HU" sz="2200" dirty="0"/>
            </a:p>
          </p:txBody>
        </p:sp>
        <p:sp>
          <p:nvSpPr>
            <p:cNvPr id="22" name="Text 5">
              <a:extLst>
                <a:ext uri="{FF2B5EF4-FFF2-40B4-BE49-F238E27FC236}">
                  <a16:creationId xmlns:a16="http://schemas.microsoft.com/office/drawing/2014/main" id="{F23AD910-3578-610D-322C-AB6C4DCAF8EB}"/>
                </a:ext>
              </a:extLst>
            </p:cNvPr>
            <p:cNvSpPr/>
            <p:nvPr/>
          </p:nvSpPr>
          <p:spPr>
            <a:xfrm>
              <a:off x="1920240" y="1965960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hu-HU" sz="1800" b="1" dirty="0" err="1">
                  <a:solidFill>
                    <a:srgbClr val="0000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Solve</a:t>
              </a:r>
              <a:endParaRPr lang="hu-HU" sz="1800" dirty="0"/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4C391AA4-0496-2EE5-16BF-B91DED988AF7}"/>
                </a:ext>
              </a:extLst>
            </p:cNvPr>
            <p:cNvSpPr/>
            <p:nvPr/>
          </p:nvSpPr>
          <p:spPr>
            <a:xfrm>
              <a:off x="4023360" y="1965960"/>
              <a:ext cx="45720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hu-HU" sz="1400" dirty="0" err="1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Jacobi</a:t>
              </a:r>
              <a:r>
                <a:rPr lang="hu-HU" sz="14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iteráció a kényszerek megoldására.</a:t>
              </a:r>
              <a:endParaRPr lang="hu-HU" sz="1400" dirty="0"/>
            </a:p>
          </p:txBody>
        </p:sp>
        <p:sp>
          <p:nvSpPr>
            <p:cNvPr id="24" name="Text 7">
              <a:extLst>
                <a:ext uri="{FF2B5EF4-FFF2-40B4-BE49-F238E27FC236}">
                  <a16:creationId xmlns:a16="http://schemas.microsoft.com/office/drawing/2014/main" id="{A0FE0EC3-E6A3-C77D-0EBF-7EC841C54BCC}"/>
                </a:ext>
              </a:extLst>
            </p:cNvPr>
            <p:cNvSpPr/>
            <p:nvPr/>
          </p:nvSpPr>
          <p:spPr>
            <a:xfrm>
              <a:off x="1371600" y="2560320"/>
              <a:ext cx="4572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hu-HU" sz="2200" b="1" dirty="0">
                  <a:solidFill>
                    <a:srgbClr val="0000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3.</a:t>
              </a:r>
              <a:endParaRPr lang="hu-HU" sz="2200" dirty="0"/>
            </a:p>
          </p:txBody>
        </p:sp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8CEB596B-55BA-57EF-FF5B-75300BF0956C}"/>
                </a:ext>
              </a:extLst>
            </p:cNvPr>
            <p:cNvSpPr/>
            <p:nvPr/>
          </p:nvSpPr>
          <p:spPr>
            <a:xfrm>
              <a:off x="1920240" y="2560320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hu-HU" sz="1800" b="1" dirty="0" err="1">
                  <a:solidFill>
                    <a:srgbClr val="0000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Correct</a:t>
              </a:r>
              <a:endParaRPr lang="hu-HU" sz="1800" dirty="0"/>
            </a:p>
          </p:txBody>
        </p:sp>
        <p:sp>
          <p:nvSpPr>
            <p:cNvPr id="26" name="Text 9">
              <a:extLst>
                <a:ext uri="{FF2B5EF4-FFF2-40B4-BE49-F238E27FC236}">
                  <a16:creationId xmlns:a16="http://schemas.microsoft.com/office/drawing/2014/main" id="{4A5CC0F5-BE44-A5B6-AF90-FA37D5AF6011}"/>
                </a:ext>
              </a:extLst>
            </p:cNvPr>
            <p:cNvSpPr/>
            <p:nvPr/>
          </p:nvSpPr>
          <p:spPr>
            <a:xfrm>
              <a:off x="4023360" y="2560320"/>
              <a:ext cx="45720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hu-HU" sz="14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Örvényesség megőrzés, viszkozitás, felületi feszültség figyelembe vétele.</a:t>
              </a:r>
              <a:endParaRPr lang="hu-HU" sz="1400" dirty="0"/>
            </a:p>
          </p:txBody>
        </p:sp>
        <p:sp>
          <p:nvSpPr>
            <p:cNvPr id="27" name="Text 10">
              <a:extLst>
                <a:ext uri="{FF2B5EF4-FFF2-40B4-BE49-F238E27FC236}">
                  <a16:creationId xmlns:a16="http://schemas.microsoft.com/office/drawing/2014/main" id="{66636923-300A-A711-3292-783322B596DB}"/>
                </a:ext>
              </a:extLst>
            </p:cNvPr>
            <p:cNvSpPr/>
            <p:nvPr/>
          </p:nvSpPr>
          <p:spPr>
            <a:xfrm>
              <a:off x="1371600" y="3154680"/>
              <a:ext cx="4572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hu-HU" sz="2200" b="1" dirty="0">
                  <a:solidFill>
                    <a:srgbClr val="0000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4.</a:t>
              </a:r>
              <a:endParaRPr lang="hu-HU" sz="2200" dirty="0"/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D0C2CC28-7484-8704-2EAC-E142CD6A0A2B}"/>
                </a:ext>
              </a:extLst>
            </p:cNvPr>
            <p:cNvSpPr/>
            <p:nvPr/>
          </p:nvSpPr>
          <p:spPr>
            <a:xfrm>
              <a:off x="1920240" y="3154680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hu-HU" sz="1800" b="1" dirty="0" err="1">
                  <a:solidFill>
                    <a:srgbClr val="0000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Commit</a:t>
              </a:r>
              <a:endParaRPr lang="hu-HU" sz="1800" dirty="0"/>
            </a:p>
          </p:txBody>
        </p:sp>
        <p:sp>
          <p:nvSpPr>
            <p:cNvPr id="29" name="Text 12">
              <a:extLst>
                <a:ext uri="{FF2B5EF4-FFF2-40B4-BE49-F238E27FC236}">
                  <a16:creationId xmlns:a16="http://schemas.microsoft.com/office/drawing/2014/main" id="{18E5DF38-6A0A-1E62-CAB7-614C77BCA6B5}"/>
                </a:ext>
              </a:extLst>
            </p:cNvPr>
            <p:cNvSpPr/>
            <p:nvPr/>
          </p:nvSpPr>
          <p:spPr>
            <a:xfrm>
              <a:off x="4023360" y="3154680"/>
              <a:ext cx="45720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hu-HU" sz="140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Sebesség elmentése a korrigált pozícióval.</a:t>
              </a:r>
              <a:endParaRPr lang="hu-HU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01982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Dual-queue GPU pipeline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4499903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N-</a:t>
            </a:r>
            <a:r>
              <a:rPr lang="en-US" sz="13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edik</a:t>
            </a: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frame </a:t>
            </a:r>
            <a:r>
              <a:rPr lang="en-US" sz="13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adatainak</a:t>
            </a: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kiszámítása</a:t>
            </a: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átlapolva</a:t>
            </a: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(N-1)-</a:t>
            </a:r>
            <a:r>
              <a:rPr lang="en-US" sz="13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edik</a:t>
            </a: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frame </a:t>
            </a:r>
            <a:r>
              <a:rPr lang="en-US" sz="13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renderelésével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B880CA-F1F3-317A-0D15-5E3BD632D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547" y="855764"/>
            <a:ext cx="6530906" cy="36274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Rendezés: memória koherencia növelése</a:t>
            </a:r>
            <a:endParaRPr lang="hu-HU" sz="2800" dirty="0"/>
          </a:p>
        </p:txBody>
      </p:sp>
      <p:sp>
        <p:nvSpPr>
          <p:cNvPr id="6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hu-HU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843C89-2E01-84A8-D824-AD858D43B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9" y="1254125"/>
            <a:ext cx="5400040" cy="263525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09A46F4C-3241-D777-F40F-68178B48AF85}"/>
              </a:ext>
            </a:extLst>
          </p:cNvPr>
          <p:cNvSpPr/>
          <p:nvPr/>
        </p:nvSpPr>
        <p:spPr>
          <a:xfrm>
            <a:off x="730543" y="4237842"/>
            <a:ext cx="8046720" cy="461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rendezés módja: számláló rendezés, amelyhez a prefix-összeget Blelloch scan adja.</a:t>
            </a:r>
            <a:endParaRPr lang="hu-HU" noProof="1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11EC196-C7CE-D9CE-BD47-F1F5EFFA203A}"/>
              </a:ext>
            </a:extLst>
          </p:cNvPr>
          <p:cNvSpPr/>
          <p:nvPr/>
        </p:nvSpPr>
        <p:spPr>
          <a:xfrm>
            <a:off x="5697416" y="1539288"/>
            <a:ext cx="3446584" cy="2350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rendezés miatt megnő az esélye, hogy az egy warpba tartozó, vagy legalábbis egy L1 cache-t használó szálak ugyanazon, vagy soron következő memóriacímekkel dolgoznak. Következmény: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Kevesebb VRAM hozzáférés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 cache kihasználtság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hu-HU" noProof="1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endParaRPr lang="hu-HU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PBF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24E353A-2EF3-8DF0-97CC-60A1E064AE6E}"/>
              </a:ext>
            </a:extLst>
          </p:cNvPr>
          <p:cNvSpPr/>
          <p:nvPr/>
        </p:nvSpPr>
        <p:spPr>
          <a:xfrm>
            <a:off x="6562579" y="967153"/>
            <a:ext cx="2525151" cy="358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iterációk száma részecskéről részecskére eltér: Level of Detail (LOD).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Kamerától távolabbi részecskék kevésbé fontosak.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noProof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folyadékfelszíntől távolabbi részecskék kevésbé fontosak.</a:t>
            </a:r>
            <a:endParaRPr lang="hu-HU" sz="1600" noProof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C6C333-9677-F2C3-703C-BD7586069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60120"/>
            <a:ext cx="6493219" cy="34923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2800" b="1" noProof="0" dirty="0" err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Rendering</a:t>
            </a:r>
            <a:r>
              <a:rPr lang="hu-HU" sz="2800" b="1" noProof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részecskék / folyadékfelszín </a:t>
            </a:r>
            <a:endParaRPr lang="hu-HU" sz="2800" noProof="0" dirty="0"/>
          </a:p>
        </p:txBody>
      </p:sp>
      <p:sp>
        <p:nvSpPr>
          <p:cNvPr id="4" name="Text 1"/>
          <p:cNvSpPr/>
          <p:nvPr/>
        </p:nvSpPr>
        <p:spPr>
          <a:xfrm>
            <a:off x="365760" y="36098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200" i="1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Récsecskék: kamera felé néző </a:t>
            </a:r>
            <a:r>
              <a:rPr lang="hu-HU" sz="1200" i="1" noProof="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billboard</a:t>
            </a:r>
            <a:endParaRPr lang="hu-HU" sz="1200" noProof="0" dirty="0"/>
          </a:p>
        </p:txBody>
      </p:sp>
      <p:sp>
        <p:nvSpPr>
          <p:cNvPr id="6" name="Text 2"/>
          <p:cNvSpPr/>
          <p:nvPr/>
        </p:nvSpPr>
        <p:spPr>
          <a:xfrm>
            <a:off x="4799304" y="36098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200" i="1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Folyadék: </a:t>
            </a:r>
            <a:r>
              <a:rPr lang="hu-HU" sz="1200" i="1" noProof="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</a:t>
            </a:r>
            <a:r>
              <a:rPr lang="hu-HU" sz="1200" i="1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i="1" noProof="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marching</a:t>
            </a:r>
            <a:r>
              <a:rPr lang="hu-HU" sz="1200" i="1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sűrűség textúra</a:t>
            </a:r>
            <a:endParaRPr lang="hu-HU" sz="1200" noProof="0" dirty="0"/>
          </a:p>
        </p:txBody>
      </p:sp>
      <p:sp>
        <p:nvSpPr>
          <p:cNvPr id="8" name="Text 4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9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hu-HU" sz="900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3E0ADB-949E-543D-1AC7-B8B753B29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2" y="1133890"/>
            <a:ext cx="4555338" cy="2439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CCA949-0296-540D-3B2D-E11D6AD3C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21092"/>
            <a:ext cx="4569408" cy="24521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682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2800" b="1" noProof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Eredmények</a:t>
            </a:r>
            <a:endParaRPr lang="hu-HU" sz="2800" noProof="0" dirty="0"/>
          </a:p>
        </p:txBody>
      </p:sp>
      <p:sp>
        <p:nvSpPr>
          <p:cNvPr id="5" name="Text 1"/>
          <p:cNvSpPr/>
          <p:nvPr/>
        </p:nvSpPr>
        <p:spPr>
          <a:xfrm>
            <a:off x="4825219" y="4241409"/>
            <a:ext cx="420624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u-HU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4050 Laptop: 400k részecske</a:t>
            </a:r>
            <a:endParaRPr lang="hu-HU" sz="2200" noProof="0" dirty="0"/>
          </a:p>
          <a:p>
            <a:pPr marL="0" indent="0" algn="ctr">
              <a:buNone/>
            </a:pPr>
            <a:r>
              <a:rPr lang="hu-HU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3080: 800k részecske</a:t>
            </a:r>
            <a:endParaRPr lang="hu-HU" sz="2200" noProof="0" dirty="0"/>
          </a:p>
        </p:txBody>
      </p:sp>
      <p:sp>
        <p:nvSpPr>
          <p:cNvPr id="6" name="Text 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9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hu-HU" sz="900" noProof="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7CA687A-2C48-5F29-3D92-ED259A2090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266473"/>
              </p:ext>
            </p:extLst>
          </p:nvPr>
        </p:nvGraphicFramePr>
        <p:xfrm>
          <a:off x="4351655" y="1274420"/>
          <a:ext cx="4792345" cy="2884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E98BD0F-2818-939F-5EEB-FFAE0B81E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803268"/>
            <a:ext cx="4234374" cy="4340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74521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u-HU" sz="4000" b="1" noProof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Köszönöm a figyelmet!</a:t>
            </a:r>
            <a:endParaRPr lang="hu-HU" sz="40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u-HU" sz="9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hu-HU" sz="9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400</Words>
  <Application>Microsoft Office PowerPoint</Application>
  <PresentationFormat>On-screen Show (16:9)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Position Based Fluids</dc:title>
  <dc:subject>PptxGenJS Presentation</dc:subject>
  <dc:creator>Gaál Botond</dc:creator>
  <cp:lastModifiedBy>Gaál Botond</cp:lastModifiedBy>
  <cp:revision>8</cp:revision>
  <dcterms:created xsi:type="dcterms:W3CDTF">2026-05-27T13:19:29Z</dcterms:created>
  <dcterms:modified xsi:type="dcterms:W3CDTF">2026-05-27T16:19:13Z</dcterms:modified>
</cp:coreProperties>
</file>